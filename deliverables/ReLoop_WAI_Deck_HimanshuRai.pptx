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61C"/>
                </a:solidFill>
                <a:latin typeface="+mn-lt"/>
              </a:rPr>
              <a:t>Average value recovered per asset (INR)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 per asset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E4C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Rule: age 4+ to recycler</c:v>
                  </c:pt>
                  <c:pt idx="1">
                    <c:v>AI grading</c:v>
                  </c:pt>
                  <c:pt idx="2">
                    <c:v>Perfect information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5519</c:v>
                </c:pt>
                <c:pt idx="1">
                  <c:v>6357</c:v>
                </c:pt>
                <c:pt idx="2">
                  <c:v>7251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61C"/>
                </a:solidFill>
                <a:latin typeface="+mn-lt"/>
              </a:rPr>
              <a:t>5-year NPV (Rs crore)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 (Rs Cr)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Logistics only</c:v>
                  </c:pt>
                  <c:pt idx="1">
                    <c:v>Conservative</c:v>
                  </c:pt>
                  <c:pt idx="2">
                    <c:v>Base (50% uplift)</c:v>
                  </c:pt>
                  <c:pt idx="3">
                    <c:v>Full uplift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1.54</c:v>
                </c:pt>
                <c:pt idx="1">
                  <c:v>27.19</c:v>
                </c:pt>
                <c:pt idx="2">
                  <c:v>56.59</c:v>
                </c:pt>
                <c:pt idx="3">
                  <c:v>111.64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 am Himanshu Rai. My WAI project asks a simple question: why do corporate laptops and servers in Pune or Bengaluru travel two thousand kilometres before anyone decides what they are worth?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diagnostics use public records. Capacity grew 5.4 times since 2020 to 42.3 lakh tonnes, but India used only 23 percent of it. Karnataka, Tamil Nadu and Maharashtra use 9 to 12 percent, while their e-waste is trucked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costs: freight and carbon, data exposure and value decay. They are linked, because all three come from deciding late and far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stages. Generative AI drafted code and, more importantly, attacked my results. Two AI suggestions were rejected after critique: Prophet for forecasting, and the first freight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the two models is the finding: a data-only model cannot see the 70 and 80 percent EPR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sends 59 percent of assets to the shredder; only about 23 percent truly belong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Consolidating and wiping near source saves 1.9 crore; switching to regional recyclers saves another 1.04 crore.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practitioner ratings replaced the simulated panel. The biggest lesson: AI agreed on dramatic risks but missed the operational one practitioners live with, refresh-cycle surges.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the conservative case returns about 27 crore of NPV with a one-year payback.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Code, data, dashboard and prompt logbook are in the submission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ReLoop | WAI | Himanshu Rai, XW013-25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E4C7"/>
                </a:solidFill>
              </a:rPr>
              <a:t>Working with AI project | Logistics and Warehousing Management | IIM Ranchi EMBA 2025-27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ReLoop: Move the Decision, Not the Asset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EDE0"/>
                </a:solidFill>
              </a:rPr>
              <a:t>An AI-enabled reverse-logistics network for corporate IT-asset and e-waste recovery in India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Himanshu Rai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XW013-25  |  Submitted to Prof. Krishna Kumar Dadsena  | 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sits idle near the source; flows travel north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CPCB registry (411 recyclers, Aug 2026), PIB FY25, Lok Sabha replies, TRAI: all public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23.4%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of India's 42.31 lakh t authorised capacity used in FY25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72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of formal processing in UP, Uttarakhand and Haryana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6360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lakh t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257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licensed capacity in the south and west, only 18.2% used</a:t>
            </a:r>
            <a:endParaRPr lang="en-US" sz="1300" dirty="0"/>
          </a:p>
        </p:txBody>
      </p:sp>
      <p:pic>
        <p:nvPicPr>
          <p:cNvPr id="13" name="Image 0" descr="/home/claude/ReLoop_WAI/outputs/figures/fig01b_capacity_at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31206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assets before deciding creates three linked costs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Prevailing model: one national ITAD vendor, un-graded assets shipped part-load to a central facility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Freight and carbon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1C"/>
                </a:solidFill>
              </a:rPr>
              <a:t>Low-density IT cargo cubes out at 6-7 t per truck; every tonne pays a 1,400 km average haul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exposure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1C"/>
                </a:solidFill>
              </a:rPr>
              <a:t>Un-wiped drives travel the full distance before sanitisation: a CISO risk on every kilometre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decay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1C"/>
                </a:solidFill>
              </a:rPr>
              <a:t>Returned electronics lose value with time; the "age 4+ goes to recycler" rule sends 59% of assets to shredding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E4C7"/>
                </a:solidFill>
              </a:rPr>
              <a:t>Problem statement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Use AI-based grading, network optimisation and fuzzy risk analysis to design a regional "grade-then-route" ITAD network for BFSI/GCC clients across 12 Indian cities, and quantify its cost, carbon, data-risk and value impact.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AI-augmented pipeline: diagnose, predict, optimise, price risk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Public data for diagnostics and the recycler network; synthetic only for confidential asset records</a:t>
            </a:r>
            <a:endParaRPr lang="en-US" sz="1500" dirty="0"/>
          </a:p>
        </p:txBody>
      </p:sp>
      <p:pic>
        <p:nvPicPr>
          <p:cNvPr id="4" name="Image 0" descr="/home/claude/ReLoop_WAI/outputs/figures/figM_method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10515600" cy="48851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GenAI (Claude): </a:t>
            </a:r>
            <a:pPr indent="0" marL="0">
              <a:buNone/>
            </a:pPr>
            <a:r>
              <a:rPr lang="en-US" sz="1400" dirty="0">
                <a:solidFill>
                  <a:srgbClr val="14261C"/>
                </a:solidFill>
              </a:rPr>
              <a:t>scoping, code drafting, critique prompts, synthetic data design, simulated expert panel.   </a:t>
            </a:r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Python: </a:t>
            </a:r>
            <a:pPr indent="0" marL="0">
              <a:buNone/>
            </a:pPr>
            <a:r>
              <a:rPr lang="en-US" sz="1400" dirty="0">
                <a:solidFill>
                  <a:srgbClr val="14261C"/>
                </a:solidFill>
              </a:rPr>
              <a:t>scikit-learn (K-means typology of 16 regions on real data, Random Forest), SciPy, Google OR-Tools (MILP, routing), Chart.js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flow doubles by FY30; data alone misses the policy push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Formal e-waste processing, lakh tonnes per year</a:t>
            </a:r>
            <a:endParaRPr lang="en-US" sz="1500" dirty="0"/>
          </a:p>
        </p:txBody>
      </p:sp>
      <p:pic>
        <p:nvPicPr>
          <p:cNvPr id="4" name="Image 0" descr="/home/claude/ReLoop_WAI/outputs/figures/fig02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1022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002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7099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75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12.74 lakh t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logistic S-curve, FY30 (MAPE 9.5%)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0632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3172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20.48 lakh 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EPR policy model, FY30 base (17.46-22.88)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526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4332"/>
                </a:solidFill>
              </a:rPr>
              <a:t>Even the high case uses only 54.1% of today's authorised capacity: India needs collection and routing, not new plants.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grading recovers Rs 839 more per asset than the age rule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Random Forest on 12,000 synthetic returns; scored on rupees recovered, not just accuracy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7099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+15.2%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value per asset; closes 48.4% of the gap to perfect information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06640" y="30632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3172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 vs 49%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794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accuracy of AI grading vs. the age rule (macro-F1 0.766)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4526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4332"/>
                </a:solidFill>
              </a:rPr>
              <a:t>Top drivers: storage health, age, processor-generation gap. These are the three readings every grader must capture.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regional hubs beat one national vendor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MILP (OR-Tools) over the real CPCB recycler network; 2,400 t/yr portfolio; hubs at Bengaluru, Pune, Gurugram</a:t>
            </a:r>
            <a:endParaRPr lang="en-US" sz="1500" dirty="0"/>
          </a:p>
        </p:txBody>
      </p:sp>
      <p:pic>
        <p:nvPicPr>
          <p:cNvPr id="4" name="Image 0" descr="/home/claude/ReLoop_WAI/outputs/figures/fig04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89520" cy="3810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4630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5727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-40.7%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annual logistics cost (Rs 7.41 Cr to 4.39 Cr)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28803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29900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-80.1%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transport CO2e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0" y="429768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0" y="44074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-80.8%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5029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data-bearing tonne-km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4332"/>
                </a:solidFill>
              </a:rPr>
              <a:t>Recyclers = real CPCB registry (107 districts). Same three hubs win under +/-30% cost shocks (savings 23-50%). Pune milk-runs cut first-mile km 65%.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Practitioners rank leakage, refresh surges and data breach highest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Fuzzy FMEA on an anonymous practitioner survey (4 responses; 1 straight-lined response excluded)</a:t>
            </a:r>
            <a:endParaRPr lang="en-US" sz="1500" dirty="0"/>
          </a:p>
        </p:txBody>
      </p:sp>
      <p:pic>
        <p:nvPicPr>
          <p:cNvPr id="4" name="Image 0" descr="/home/claude/ReLoop_WAI/outputs/figures/fig06_fuzzy_fm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25543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5544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E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R2 Leakage to informal channel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1C"/>
                </a:solidFill>
              </a:rPr>
              <a:t>Serialised pickup manifests; accredit informal collectors as partners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38160" y="29260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E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R7 Refresh-cycle return surges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1C"/>
                </a:solidFill>
              </a:rPr>
              <a:t>Refresh-calendar agreements with clients; modular, leased hub capacity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38160" y="429768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BE7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R1 Data breach in transit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754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61C"/>
                </a:solidFill>
              </a:rPr>
              <a:t>Severity 7.5/10: wipe within one short leg; GPS e-locked vans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4332"/>
                </a:solidFill>
              </a:rPr>
              <a:t>AI-simulated experts vs real practitioners: rank correlation only 0.1. The simulated panel ranked refresh surges 9th; practitioners ranked them 2nd.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redesign pays for itself; AI grading makes it a business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</a:rPr>
              <a:t>5-year NPV at 12% on Rs 5.11 Cr capex, under benefit scenarios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6751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15-month stage-gated rollout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75120" y="1965960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9659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 0-4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196596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Pune pilot hub + milk-runs; AI grading in shadow mode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5120" y="2624328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262432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 5-9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26243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Bengaluru hub; regional recyclers; grading live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3282696"/>
            <a:ext cx="1097280" cy="530352"/>
          </a:xfrm>
          <a:prstGeom prst="roundRect">
            <a:avLst>
              <a:gd name="adj" fmla="val 1034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328269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 9-15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328269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Gurugram hub; R2v3 / ISO 27001; scale to new clients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4023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Payback: </a:t>
            </a:r>
            <a:pPr indent="0" marL="0">
              <a:buNone/>
            </a:pPr>
            <a:r>
              <a:rPr lang="en-US" sz="1400" dirty="0">
                <a:solidFill>
                  <a:srgbClr val="14261C"/>
                </a:solidFill>
              </a:rPr>
              <a:t>36.9 months (logistics only), 12.5 months (conservative), 6.5 months (base).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Decision rule: </a:t>
            </a:r>
            <a:pPr indent="0" marL="0">
              <a:buNone/>
            </a:pPr>
            <a:r>
              <a:rPr lang="en-US" sz="1400" dirty="0">
                <a:solidFill>
                  <a:srgbClr val="14261C"/>
                </a:solidFill>
              </a:rPr>
              <a:t>approve full rollout if the pilot captures at least 25% of the modelled grading uplift on real assets.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decision, not the asset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920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DE0"/>
                </a:solidFill>
              </a:rPr>
              <a:t>Grade and wipe at three regional hubs within ~300 km of clients; contract regional recyclers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Value, not freight, is the prize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DE0"/>
                </a:solidFill>
              </a:rPr>
              <a:t>Invest in grading intelligence; keep a human override and learn from every override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332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compliance into a product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DE0"/>
                </a:solidFill>
              </a:rPr>
              <a:t>Sell certified destruction, chain of custody and EPR traceability as an assured service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257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E4C7"/>
                </a:solidFill>
              </a:rPr>
              <a:t>Responsible AI: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human-in-the-loop grading, pseudonymised data (DPDP Act 2023), NIST 800-88 sanitisation, synthetic data and simulated panel disclosed, informal collectors included not excluded.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oop">
  <a:themeElements>
    <a:clrScheme name="ReLoop">
      <a:dk1>
        <a:srgbClr val="14261C"/>
      </a:dk1>
      <a:lt1>
        <a:srgbClr val="FFFFFF"/>
      </a:lt1>
      <a:dk2>
        <a:srgbClr val="1B4332"/>
      </a:dk2>
      <a:lt2>
        <a:srgbClr val="EEF5F0"/>
      </a:lt2>
      <a:accent1>
        <a:srgbClr val="2D6A4F"/>
      </a:accent1>
      <a:accent2>
        <a:srgbClr val="52B788"/>
      </a:accent2>
      <a:accent3>
        <a:srgbClr val="E76F51"/>
      </a:accent3>
      <a:accent4>
        <a:srgbClr val="F4A261"/>
      </a:accent4>
      <a:accent5>
        <a:srgbClr val="B7E4C7"/>
      </a:accent5>
      <a:accent6>
        <a:srgbClr val="6C757D"/>
      </a:accent6>
      <a:hlink>
        <a:srgbClr val="2D6A4F"/>
      </a:hlink>
      <a:folHlink>
        <a:srgbClr val="1B4332"/>
      </a:folHlink>
    </a:clrScheme>
    <a:fontScheme name="ReLo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ReLoop WAI</dc:title>
  <dc:subject>PptxGenJS Presentation</dc:subject>
  <dc:creator>Himanshu Rai</dc:creator>
  <cp:lastModifiedBy>Himanshu Rai</cp:lastModifiedBy>
  <cp:revision>1</cp:revision>
  <dcterms:created xsi:type="dcterms:W3CDTF">2026-10-05T11:20:28Z</dcterms:created>
  <dcterms:modified xsi:type="dcterms:W3CDTF">2026-10-05T11:20:28Z</dcterms:modified>
</cp:coreProperties>
</file>